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948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3657600" cy="3657600"/>
          </a:xfrm>
          <a:prstGeom prst="ellipse">
            <a:avLst/>
          </a:prstGeom>
          <a:solidFill>
            <a:srgbClr val="0F766E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560320"/>
            <a:ext cx="3657600" cy="3657600"/>
          </a:xfrm>
          <a:prstGeom prst="ellipse">
            <a:avLst/>
          </a:prstGeom>
          <a:solidFill>
            <a:srgbClr val="0F766E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972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Money-ger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CCFBF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Private Banking System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CFBF1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Full-Stack Digital Banking Solution | Spring Boot + Angular + MySQL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3200400"/>
            <a:ext cx="2103120" cy="365760"/>
          </a:xfrm>
          <a:prstGeom prst="roundRect">
            <a:avLst>
              <a:gd name="adj" fmla="val 10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3200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JWT Security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3200400"/>
            <a:ext cx="2103120" cy="365760"/>
          </a:xfrm>
          <a:prstGeom prst="roundRect">
            <a:avLst>
              <a:gd name="adj" fmla="val 10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3200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Money Transfer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0" y="3200400"/>
            <a:ext cx="2103120" cy="365760"/>
          </a:xfrm>
          <a:prstGeom prst="roundRect">
            <a:avLst>
              <a:gd name="adj" fmla="val 10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32004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WebSocket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3703320"/>
            <a:ext cx="2103120" cy="365760"/>
          </a:xfrm>
          <a:prstGeom prst="roundRect">
            <a:avLst>
              <a:gd name="adj" fmla="val 10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7033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Rewards Engine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3703320"/>
            <a:ext cx="2103120" cy="365760"/>
          </a:xfrm>
          <a:prstGeom prst="roundRect">
            <a:avLst>
              <a:gd name="adj" fmla="val 10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91840" y="37033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 Statements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669280" y="3703320"/>
            <a:ext cx="2103120" cy="365760"/>
          </a:xfrm>
          <a:prstGeom prst="roundRect">
            <a:avLst>
              <a:gd name="adj" fmla="val 10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0" y="37033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Portal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ARCHITECTURE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2377440" cy="411480"/>
          </a:xfrm>
          <a:prstGeom prst="roundRect">
            <a:avLst>
              <a:gd name="adj" fmla="val 11111"/>
            </a:avLst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858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383280" y="685800"/>
            <a:ext cx="2377440" cy="411480"/>
          </a:xfrm>
          <a:prstGeom prst="roundRect">
            <a:avLst>
              <a:gd name="adj" fmla="val 11111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3383280" y="6858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309360" y="685800"/>
            <a:ext cx="2377440" cy="411480"/>
          </a:xfrm>
          <a:prstGeom prst="roundRect">
            <a:avLst>
              <a:gd name="adj" fmla="val 11111"/>
            </a:avLst>
          </a:prstGeom>
          <a:solidFill>
            <a:srgbClr val="7C3AED"/>
          </a:solidFill>
          <a:ln/>
        </p:spPr>
      </p:sp>
      <p:sp>
        <p:nvSpPr>
          <p:cNvPr id="8" name="Text 6"/>
          <p:cNvSpPr/>
          <p:nvPr/>
        </p:nvSpPr>
        <p:spPr>
          <a:xfrm>
            <a:off x="6309360" y="6858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1280160"/>
            <a:ext cx="228600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130759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Angular 22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150876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Standalone Components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02920" y="1783080"/>
            <a:ext cx="228600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181051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Angular Material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01168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 Components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02920" y="2286000"/>
            <a:ext cx="228600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231343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Chart.js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251460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 Charts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502920" y="2788920"/>
            <a:ext cx="228600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281635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STOMP.js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301752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WebSocket Client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02920" y="3291840"/>
            <a:ext cx="228600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" y="331927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JWT Interceptor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352044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 Token Mgmt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429000" y="1280160"/>
            <a:ext cx="228600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3566160" y="130759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Spring Boot 4.0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566160" y="150876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 API + Security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429000" y="1783080"/>
            <a:ext cx="228600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566160" y="181051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JWT Auth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566160" y="201168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Spring Security Filter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429000" y="2286000"/>
            <a:ext cx="228600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566160" y="231343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Transfer Engine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566160" y="251460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Idempotency + Locking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429000" y="2788920"/>
            <a:ext cx="228600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566160" y="281635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Event-Driven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566160" y="301752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Rewards / Notifications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429000" y="3291840"/>
            <a:ext cx="228600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566160" y="331927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OpenPDF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566160" y="352044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 Receipts + Statements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355080" y="1280160"/>
            <a:ext cx="228600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492240" y="130759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 8.0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92240" y="150876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Relational Database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355080" y="1783080"/>
            <a:ext cx="228600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492240" y="181051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Tables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492240" y="201168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/ Accounts / Txns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355080" y="2286000"/>
            <a:ext cx="228600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492240" y="231343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JPA + Hibernate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492240" y="251460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ORM with @Version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355080" y="2788920"/>
            <a:ext cx="228600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492240" y="2816352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B21B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Flyway Migrations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492240" y="3017520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 Versioning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2834640" y="3383280"/>
            <a:ext cx="384048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5760720" y="3383280"/>
            <a:ext cx="384048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53" name="Text 51"/>
          <p:cNvSpPr/>
          <p:nvPr/>
        </p:nvSpPr>
        <p:spPr>
          <a:xfrm>
            <a:off x="2743200" y="35204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 / JSON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669280" y="35204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JDBC / JPA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57200" y="402336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0080" y="40690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Deployment:  Angular Dev Server (:4200)  ⟷  Spring Boot (:8080)  ⟷  MySQL (:3306)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TECHNOLOGY STACK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1874520" cy="39319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685800"/>
            <a:ext cx="1874520" cy="36576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PRESENTATION LAYER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123444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Angular 22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4630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Standalone components + lazy routes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94360" y="19659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05740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Angular Material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28600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MatCard, MatTable, MatSidenav, MatDialog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94360" y="278892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88036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Chart.js 4.4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" y="31089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 &amp; Doughnut analytics charts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94360" y="361188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70332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RxJS 7.8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4360" y="39319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BehaviorSubject state management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514600" y="685800"/>
            <a:ext cx="1874520" cy="39319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14600" y="685800"/>
            <a:ext cx="1874520" cy="36576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/>
        </p:spPr>
      </p:sp>
      <p:sp>
        <p:nvSpPr>
          <p:cNvPr id="19" name="Text 17"/>
          <p:cNvSpPr/>
          <p:nvPr/>
        </p:nvSpPr>
        <p:spPr>
          <a:xfrm>
            <a:off x="2514600" y="68580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API &amp; SECURITY LAYER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651760" y="123444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Spring Boot 4.0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51760" y="14630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 controllers, 30+ endpoints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651760" y="19659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51760" y="205740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Spring Security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51760" y="228600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JWT auth (jjwt 0.11.5, 1hr expiry)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651760" y="278892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88036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STOMP WebSocket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651760" y="31089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notifications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651760" y="361188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51760" y="370332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SpringDoc OpenAPI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651760" y="39319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Swagger UI at /swagger-ui.html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572000" y="685800"/>
            <a:ext cx="1874520" cy="39319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0" y="685800"/>
            <a:ext cx="1874520" cy="365760"/>
          </a:xfrm>
          <a:prstGeom prst="roundRect">
            <a:avLst>
              <a:gd name="adj" fmla="val 20000"/>
            </a:avLst>
          </a:prstGeom>
          <a:solidFill>
            <a:srgbClr val="D97706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0" y="68580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BUSINESS LOGIC LAYER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09160" y="123444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Transfer Engine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09160" y="14630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Idempotency + optimistic locking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4709160" y="19659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205740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Rewards System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709160" y="228600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1pt/₹100, event-driven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709160" y="278892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288036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 Generator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09160" y="31089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OpenPDF receipts &amp; statements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709160" y="361188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09160" y="370332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Event-Driven Arch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709160" y="39319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ApplicationEventPublisher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629400" y="685800"/>
            <a:ext cx="1874520" cy="39319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629400" y="685800"/>
            <a:ext cx="1874520" cy="365760"/>
          </a:xfrm>
          <a:prstGeom prst="roundRect">
            <a:avLst>
              <a:gd name="adj" fmla="val 20000"/>
            </a:avLst>
          </a:prstGeom>
          <a:solidFill>
            <a:srgbClr val="7C3AED"/>
          </a:solidFill>
          <a:ln/>
        </p:spPr>
      </p:sp>
      <p:sp>
        <p:nvSpPr>
          <p:cNvPr id="47" name="Text 45"/>
          <p:cNvSpPr/>
          <p:nvPr/>
        </p:nvSpPr>
        <p:spPr>
          <a:xfrm>
            <a:off x="6629400" y="68580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DATA LAYER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766560" y="123444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 8.0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766560" y="146304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tables, FK constraints, indexes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6766560" y="19659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66560" y="205740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JPA / Hibernate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766560" y="228600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@Version optimistic locking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766560" y="278892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766560" y="288036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Flyway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766560" y="310896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Versioned DB migrations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766560" y="361188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766560" y="370332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BCrypt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766560" y="3931920"/>
            <a:ext cx="1600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Password hashing (cost 10)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57200" y="402336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0080" y="40690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Testing:  JUnit 5 + Mockito (44 backend tests)  |  Jasmine + Karma (40 frontend specs)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AUTHENTICATION &amp; SECURITY FLOW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Registration Flow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0D9488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645920" y="105156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737360" y="10515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 /auth/register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?username&amp;password&amp;holderName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60120" y="1508760"/>
            <a:ext cx="0" cy="18288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457200" y="1691640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69164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645920" y="169164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737360" y="1691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 password strength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(min 8 chars, 1 upper, 1 symbol)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960120" y="2148840"/>
            <a:ext cx="0" cy="18288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57200" y="2331720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233172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645920" y="233172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737360" y="2331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AppUser (BCrypt)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&amp; Account (MTS{year}-{random})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960120" y="2788920"/>
            <a:ext cx="0" cy="18288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57200" y="2971800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297180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645920" y="297180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737360" y="29718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Generate JWT token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(1 hour expiry)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960120" y="3429000"/>
            <a:ext cx="0" cy="18288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57200" y="3611880"/>
            <a:ext cx="1005840" cy="457200"/>
          </a:xfrm>
          <a:prstGeom prst="roundRect">
            <a:avLst>
              <a:gd name="adj" fmla="val 16000"/>
            </a:avLst>
          </a:prstGeom>
          <a:solidFill>
            <a:srgbClr val="14B8A6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361188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645920" y="3611880"/>
            <a:ext cx="26517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737360" y="36118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token → localStorage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Redirect to /profile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46320" y="64008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Login &amp; API Access Flow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46320" y="105156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D9488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846320" y="1051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Browser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400800" y="105156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00800" y="10515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 /auth/login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{username, password}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846320" y="228600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14B8A6"/>
          </a:solidFill>
          <a:ln w="19050">
            <a:solidFill>
              <a:srgbClr val="14B8A6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46320" y="2286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JWT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localStorage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400800" y="228600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2563EB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400800" y="22860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AuthManager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846320" y="352044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0D9488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846320" y="35204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Attach Token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 Interceptor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6400800" y="3520440"/>
            <a:ext cx="1371600" cy="4572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400800" y="35204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JWT Filter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SecurityContext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6217920" y="1280160"/>
            <a:ext cx="1828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5532120" y="1508760"/>
            <a:ext cx="0" cy="77724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217920" y="2514600"/>
            <a:ext cx="1828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5532120" y="2743200"/>
            <a:ext cx="0" cy="77724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6217920" y="3749040"/>
            <a:ext cx="18288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457200" y="402336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" y="406908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Security:  BCrypt(10)  •  JWT 1hr expiry  •  CORS localhost:4200  •  Stateless sessions  •  @PreAuthorize for ADMIN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WORKFLOW — MONEY TRANSFER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365760" y="777240"/>
            <a:ext cx="1280160" cy="1371600"/>
          </a:xfrm>
          <a:prstGeom prst="roundRect">
            <a:avLst>
              <a:gd name="adj" fmla="val 5714"/>
            </a:avLst>
          </a:prstGeom>
          <a:solidFill>
            <a:srgbClr val="0D9488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84124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 Request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From/To account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Amount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Idempotency Key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1645920" y="1463040"/>
            <a:ext cx="54864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2194560" y="777240"/>
            <a:ext cx="1280160" cy="1371600"/>
          </a:xfrm>
          <a:prstGeom prst="roundRect">
            <a:avLst>
              <a:gd name="adj" fmla="val 5714"/>
            </a:avLst>
          </a:prstGeom>
          <a:solidFill>
            <a:srgbClr val="2563EB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94560" y="84124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 Validate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0" y="123444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Idempotency check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 check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Active status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474720" y="1463040"/>
            <a:ext cx="54864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023360" y="777240"/>
            <a:ext cx="1280160" cy="1371600"/>
          </a:xfrm>
          <a:prstGeom prst="roundRect">
            <a:avLst>
              <a:gd name="adj" fmla="val 5714"/>
            </a:avLst>
          </a:prstGeom>
          <a:solidFill>
            <a:srgbClr val="D97706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023360" y="84124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 Execute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0" y="123444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Debit sender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Credit receiver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@Version lock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303520" y="1463040"/>
            <a:ext cx="54864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852160" y="777240"/>
            <a:ext cx="1280160" cy="1371600"/>
          </a:xfrm>
          <a:prstGeom prst="roundRect">
            <a:avLst>
              <a:gd name="adj" fmla="val 5714"/>
            </a:avLst>
          </a:prstGeom>
          <a:solidFill>
            <a:srgbClr val="7C3AED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852160" y="84124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 Record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0" y="123444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TransactionLog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 = SUCCESS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7132320" y="1463040"/>
            <a:ext cx="54864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680960" y="777240"/>
            <a:ext cx="1280160" cy="1371600"/>
          </a:xfrm>
          <a:prstGeom prst="roundRect">
            <a:avLst>
              <a:gd name="adj" fmla="val 5714"/>
            </a:avLst>
          </a:prstGeom>
          <a:solidFill>
            <a:srgbClr val="DC2626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680960" y="84124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 Notify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0" y="123444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 → Rewards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Notifications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 Audit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57200" y="2377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Event-Driven Chain (after successful transfer)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78892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30352" y="2816352"/>
            <a:ext cx="149961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TransferCompletedEvent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(ApplicationEventPublisher)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103120" y="3200400"/>
            <a:ext cx="36576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2468880" y="278892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542032" y="2816352"/>
            <a:ext cx="149961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RewardService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awardForSuccessfulTransfer()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1pt per ₹100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114800" y="3200400"/>
            <a:ext cx="36576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480560" y="278892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553712" y="2816352"/>
            <a:ext cx="149961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NotificationService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× 2 (sender + receiver)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STOMP push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126480" y="3200400"/>
            <a:ext cx="36576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492240" y="278892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565392" y="2816352"/>
            <a:ext cx="149961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AuditService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LOG_TRANSFER_SUCCESS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 capture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457200" y="3794760"/>
            <a:ext cx="8229600" cy="868680"/>
          </a:xfrm>
          <a:prstGeom prst="roundRect">
            <a:avLst>
              <a:gd name="adj" fmla="val 6316"/>
            </a:avLst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38404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  Failure Handling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" y="4114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Insufficient balance / Inactive account / Same-account transfer → TransactionLog = FAILED + FailureLogService (REQUIRES_NEW)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40080" y="466344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A1A1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Key:  Optimistic Locking (@Version) prevents race conditions  |  Idempotency Key unique constraint prevents double-spend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FEATURE MODULES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18745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685800"/>
            <a:ext cx="187452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85039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📊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85039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66928" y="1234440"/>
            <a:ext cx="1655064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325880"/>
            <a:ext cx="165506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Balance, account details,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recent transactions, rewards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(Auth Guard)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645920" y="1993392"/>
            <a:ext cx="548640" cy="182880"/>
          </a:xfrm>
          <a:prstGeom prst="roundRect">
            <a:avLst>
              <a:gd name="adj" fmla="val 15000"/>
            </a:avLst>
          </a:prstGeom>
          <a:solidFill>
            <a:srgbClr val="0D9488">
              <a:alpha val="15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0" y="199339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</a:t>
            </a:r>
            <a:endParaRPr lang="en-US" sz="600" dirty="0"/>
          </a:p>
        </p:txBody>
      </p:sp>
      <p:sp>
        <p:nvSpPr>
          <p:cNvPr id="11" name="Shape 9"/>
          <p:cNvSpPr/>
          <p:nvPr/>
        </p:nvSpPr>
        <p:spPr>
          <a:xfrm>
            <a:off x="2514600" y="685800"/>
            <a:ext cx="18745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14600" y="685800"/>
            <a:ext cx="18745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2624328" y="85039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971800" y="85039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Money Transfer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624328" y="1234440"/>
            <a:ext cx="1655064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24328" y="1325880"/>
            <a:ext cx="165506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ID/number lookup, confirm-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dialog, idempotency key,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result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703320" y="1993392"/>
            <a:ext cx="548640" cy="182880"/>
          </a:xfrm>
          <a:prstGeom prst="roundRect">
            <a:avLst>
              <a:gd name="adj" fmla="val 15000"/>
            </a:avLst>
          </a:prstGeom>
          <a:solidFill>
            <a:srgbClr val="2563EB">
              <a:alpha val="15000"/>
            </a:srgbClr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03320" y="199339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2563E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</a:t>
            </a:r>
            <a:endParaRPr lang="en-US" sz="600" dirty="0"/>
          </a:p>
        </p:txBody>
      </p:sp>
      <p:sp>
        <p:nvSpPr>
          <p:cNvPr id="19" name="Shape 17"/>
          <p:cNvSpPr/>
          <p:nvPr/>
        </p:nvSpPr>
        <p:spPr>
          <a:xfrm>
            <a:off x="4572000" y="685800"/>
            <a:ext cx="18745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0" y="685800"/>
            <a:ext cx="187452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4681728" y="85039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📋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029200" y="85039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 History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81728" y="1234440"/>
            <a:ext cx="1655064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1728" y="1325880"/>
            <a:ext cx="165506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Filter, search, sort, paginate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 receipt download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transaction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760720" y="1993392"/>
            <a:ext cx="548640" cy="182880"/>
          </a:xfrm>
          <a:prstGeom prst="roundRect">
            <a:avLst>
              <a:gd name="adj" fmla="val 15000"/>
            </a:avLst>
          </a:prstGeom>
          <a:solidFill>
            <a:srgbClr val="7C3AED">
              <a:alpha val="15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0720" y="199339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7C3A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</a:t>
            </a:r>
            <a:endParaRPr lang="en-US" sz="600" dirty="0"/>
          </a:p>
        </p:txBody>
      </p:sp>
      <p:sp>
        <p:nvSpPr>
          <p:cNvPr id="27" name="Shape 25"/>
          <p:cNvSpPr/>
          <p:nvPr/>
        </p:nvSpPr>
        <p:spPr>
          <a:xfrm>
            <a:off x="6629400" y="685800"/>
            <a:ext cx="18745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629400" y="685800"/>
            <a:ext cx="18745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9" name="Text 27"/>
          <p:cNvSpPr/>
          <p:nvPr/>
        </p:nvSpPr>
        <p:spPr>
          <a:xfrm>
            <a:off x="6739128" y="85039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👥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086600" y="85039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Beneficiaries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739128" y="1234440"/>
            <a:ext cx="1655064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39128" y="1325880"/>
            <a:ext cx="165506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 grid, add/edit/delete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favorites (sorted first)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quick-transfer link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7818120" y="1993392"/>
            <a:ext cx="548640" cy="182880"/>
          </a:xfrm>
          <a:prstGeom prst="roundRect">
            <a:avLst>
              <a:gd name="adj" fmla="val 15000"/>
            </a:avLst>
          </a:prstGeom>
          <a:solidFill>
            <a:srgbClr val="D97706">
              <a:alpha val="15000"/>
            </a:srgb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18120" y="199339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457200" y="2468880"/>
            <a:ext cx="18745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" y="2468880"/>
            <a:ext cx="18745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263347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🏆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14400" y="263347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Rewards Program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66928" y="3017520"/>
            <a:ext cx="1655064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6928" y="3108960"/>
            <a:ext cx="165506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1pt per ₹100 transferred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lifetime &amp; current points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history table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645920" y="3776472"/>
            <a:ext cx="548640" cy="182880"/>
          </a:xfrm>
          <a:prstGeom prst="roundRect">
            <a:avLst>
              <a:gd name="adj" fmla="val 15000"/>
            </a:avLst>
          </a:prstGeom>
          <a:solidFill>
            <a:srgbClr val="D97706">
              <a:alpha val="15000"/>
            </a:srgbClr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645920" y="377647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9770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</a:t>
            </a:r>
            <a:endParaRPr lang="en-US" sz="600" dirty="0"/>
          </a:p>
        </p:txBody>
      </p:sp>
      <p:sp>
        <p:nvSpPr>
          <p:cNvPr id="43" name="Shape 41"/>
          <p:cNvSpPr/>
          <p:nvPr/>
        </p:nvSpPr>
        <p:spPr>
          <a:xfrm>
            <a:off x="2514600" y="2468880"/>
            <a:ext cx="18745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514600" y="2468880"/>
            <a:ext cx="1874520" cy="54864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5" name="Text 43"/>
          <p:cNvSpPr/>
          <p:nvPr/>
        </p:nvSpPr>
        <p:spPr>
          <a:xfrm>
            <a:off x="2624328" y="263347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📈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2971800" y="263347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624328" y="3017520"/>
            <a:ext cx="1655064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24328" y="3108960"/>
            <a:ext cx="165506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Bar chart (sent vs received)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Doughnut (success vs fail)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 summary cards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703320" y="3776472"/>
            <a:ext cx="548640" cy="182880"/>
          </a:xfrm>
          <a:prstGeom prst="roundRect">
            <a:avLst>
              <a:gd name="adj" fmla="val 15000"/>
            </a:avLst>
          </a:prstGeom>
          <a:solidFill>
            <a:srgbClr val="0891B2">
              <a:alpha val="15000"/>
            </a:srgbClr>
          </a:solidFill>
          <a:ln w="6350">
            <a:solidFill>
              <a:srgbClr val="0891B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03320" y="377647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891B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</a:t>
            </a:r>
            <a:endParaRPr lang="en-US" sz="600" dirty="0"/>
          </a:p>
        </p:txBody>
      </p:sp>
      <p:sp>
        <p:nvSpPr>
          <p:cNvPr id="51" name="Shape 49"/>
          <p:cNvSpPr/>
          <p:nvPr/>
        </p:nvSpPr>
        <p:spPr>
          <a:xfrm>
            <a:off x="4572000" y="2468880"/>
            <a:ext cx="18745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572000" y="2468880"/>
            <a:ext cx="187452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53" name="Text 51"/>
          <p:cNvSpPr/>
          <p:nvPr/>
        </p:nvSpPr>
        <p:spPr>
          <a:xfrm>
            <a:off x="4681728" y="263347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📄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5029200" y="263347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Statements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681728" y="3017520"/>
            <a:ext cx="1655064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81728" y="3108960"/>
            <a:ext cx="165506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Date-range PDF generation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opening/closing balance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OpenPDF engine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5760720" y="3776472"/>
            <a:ext cx="548640" cy="182880"/>
          </a:xfrm>
          <a:prstGeom prst="roundRect">
            <a:avLst>
              <a:gd name="adj" fmla="val 15000"/>
            </a:avLst>
          </a:prstGeom>
          <a:solidFill>
            <a:srgbClr val="4F46E5">
              <a:alpha val="15000"/>
            </a:srgbClr>
          </a:solidFill>
          <a:ln w="6350">
            <a:solidFill>
              <a:srgbClr val="4F46E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760720" y="377647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4F46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</a:t>
            </a:r>
            <a:endParaRPr lang="en-US" sz="600" dirty="0"/>
          </a:p>
        </p:txBody>
      </p:sp>
      <p:sp>
        <p:nvSpPr>
          <p:cNvPr id="59" name="Shape 57"/>
          <p:cNvSpPr/>
          <p:nvPr/>
        </p:nvSpPr>
        <p:spPr>
          <a:xfrm>
            <a:off x="6629400" y="2468880"/>
            <a:ext cx="187452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629400" y="2468880"/>
            <a:ext cx="1874520" cy="54864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1" name="Text 59"/>
          <p:cNvSpPr/>
          <p:nvPr/>
        </p:nvSpPr>
        <p:spPr>
          <a:xfrm>
            <a:off x="6739128" y="263347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⚙️</a:t>
            </a:r>
            <a:endParaRPr lang="en-US" sz="1600" dirty="0"/>
          </a:p>
        </p:txBody>
      </p:sp>
      <p:sp>
        <p:nvSpPr>
          <p:cNvPr id="62" name="Text 60"/>
          <p:cNvSpPr/>
          <p:nvPr/>
        </p:nvSpPr>
        <p:spPr>
          <a:xfrm>
            <a:off x="7086600" y="263347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 Portal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6739128" y="3017520"/>
            <a:ext cx="1655064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739128" y="3108960"/>
            <a:ext cx="1655064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CRUD, block/unblock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Transaction monitor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logs search/export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7818120" y="3776472"/>
            <a:ext cx="548640" cy="182880"/>
          </a:xfrm>
          <a:prstGeom prst="roundRect">
            <a:avLst>
              <a:gd name="adj" fmla="val 15000"/>
            </a:avLst>
          </a:prstGeom>
          <a:solidFill>
            <a:srgbClr val="DC2626">
              <a:alpha val="15000"/>
            </a:srgbClr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818120" y="3776472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C26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</a:t>
            </a:r>
            <a:endParaRPr lang="en-US" sz="600" dirty="0"/>
          </a:p>
        </p:txBody>
      </p:sp>
      <p:sp>
        <p:nvSpPr>
          <p:cNvPr id="67" name="Shape 65"/>
          <p:cNvSpPr/>
          <p:nvPr/>
        </p:nvSpPr>
        <p:spPr>
          <a:xfrm>
            <a:off x="457200" y="4114800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protected routes →  authGuard  |  Admin routes →  authGuard + adminGuard  |  Public: /welcome, /login, /signup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TECHNICAL DECISIONS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685800"/>
            <a:ext cx="54864" cy="1143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7772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🔐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51560" y="7955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JWT over Sessions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124712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Stateless auth — no server-side session storage. Token in localStorage, attached via HttpInterceptor. 1-hour expiry with HMAC-SHA signing. Scalable horizontally without sticky sessions.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4572000" y="68580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685800"/>
            <a:ext cx="54864" cy="1143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4754880" y="77724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⚡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166360" y="7955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Event-Driven Architecture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0" y="1124712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TransferCompletionEvent published via ApplicationEventPublisher decouples the transfer core from rewards, notifications, and audit. Each handler runs in the same @Transactional context (MANDATORY propagation).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457200" y="201168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011680"/>
            <a:ext cx="54864" cy="1143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1031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🛡️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51560" y="212140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Idempotency + Optimistic Locking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2450592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Idempotency key (DB UNIQUE) prevents double-spend on retry. @Version column on accounts prevents race conditions during concurrent balance updates — JPA throws OptimisticLockException on conflict.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572000" y="201168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0" y="2011680"/>
            <a:ext cx="54864" cy="1143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210312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🔔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66360" y="212140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WebSocket Notifications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2450592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STOMP over WebSocket pushes transaction alerts to logged-in users instantly. Frontend subscribes to /user/queue/notifications via @stomp/stompjs. Reconnects automatically on drop.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57200" y="333756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3337560"/>
            <a:ext cx="54864" cy="1143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4290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📄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51560" y="344728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 Generation with OpenPDF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3776472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Receipts (per transaction) and statements (date range) generated server-side using OpenPDF. Owner validation: only sender/receiver can download. Includes reward points summary on statements.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572000" y="333756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0" y="3337560"/>
            <a:ext cx="54864" cy="1143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0" y="34290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27272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📊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166360" y="344728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Modular Angular Architecture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54880" y="3776472"/>
            <a:ext cx="35204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rgbClr val="525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Standalone components with lazy routes. BehaviorSubject-based state management (no NgRx needed). AuthGuard + AdminGuard protect routes. Chart.js for analytics visuals.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2026-06-21T18:29:01Z</dcterms:created>
  <dcterms:modified xsi:type="dcterms:W3CDTF">2026-06-21T18:29:01Z</dcterms:modified>
</cp:coreProperties>
</file>